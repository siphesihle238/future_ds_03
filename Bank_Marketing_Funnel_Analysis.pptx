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Conversion by Channel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Cellular</c:v>
                  </c:pt>
                  <c:pt idx="1">
                    <c:v>Telephone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14.74</c:v>
                </c:pt>
                <c:pt idx="1">
                  <c:v>5.23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Conversion by Previous Outcome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7F1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0A4A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Success</c:v>
                  </c:pt>
                  <c:pt idx="1">
                    <c:v>Failure</c:v>
                  </c:pt>
                  <c:pt idx="2">
                    <c:v>Nonexistent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65.11</c:v>
                </c:pt>
                <c:pt idx="1">
                  <c:v>14.23</c:v>
                </c:pt>
                <c:pt idx="2">
                  <c:v>8.83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By Job Type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Student</c:v>
                  </c:pt>
                  <c:pt idx="1">
                    <c:v>Retired</c:v>
                  </c:pt>
                  <c:pt idx="2">
                    <c:v>Unemployed</c:v>
                  </c:pt>
                  <c:pt idx="3">
                    <c:v>Admin</c:v>
                  </c:pt>
                  <c:pt idx="4">
                    <c:v>Management</c:v>
                  </c:pt>
                  <c:pt idx="5">
                    <c:v>Technician</c:v>
                  </c:pt>
                  <c:pt idx="6">
                    <c:v>Self-emp.</c:v>
                  </c:pt>
                  <c:pt idx="7">
                    <c:v>Housemaid</c:v>
                  </c:pt>
                  <c:pt idx="8">
                    <c:v>Entrepreneur</c:v>
                  </c:pt>
                  <c:pt idx="9">
                    <c:v>Services</c:v>
                  </c:pt>
                  <c:pt idx="10">
                    <c:v>Blue-collar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31.43</c:v>
                </c:pt>
                <c:pt idx="1">
                  <c:v>25.23</c:v>
                </c:pt>
                <c:pt idx="2">
                  <c:v>14.2</c:v>
                </c:pt>
                <c:pt idx="3">
                  <c:v>12.97</c:v>
                </c:pt>
                <c:pt idx="4">
                  <c:v>11.22</c:v>
                </c:pt>
                <c:pt idx="5">
                  <c:v>10.83</c:v>
                </c:pt>
                <c:pt idx="6">
                  <c:v>10.49</c:v>
                </c:pt>
                <c:pt idx="7">
                  <c:v>10</c:v>
                </c:pt>
                <c:pt idx="8">
                  <c:v>8.52</c:v>
                </c:pt>
                <c:pt idx="9">
                  <c:v>8.14</c:v>
                </c:pt>
                <c:pt idx="10">
                  <c:v>6.89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By Age Group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65+</c:v>
                  </c:pt>
                  <c:pt idx="1">
                    <c:v>&lt;25</c:v>
                  </c:pt>
                  <c:pt idx="2">
                    <c:v>55-64</c:v>
                  </c:pt>
                  <c:pt idx="3">
                    <c:v>25-34</c:v>
                  </c:pt>
                  <c:pt idx="4">
                    <c:v>45-54</c:v>
                  </c:pt>
                  <c:pt idx="5">
                    <c:v>35-44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46.93</c:v>
                </c:pt>
                <c:pt idx="1">
                  <c:v>20.96</c:v>
                </c:pt>
                <c:pt idx="2">
                  <c:v>15.23</c:v>
                </c:pt>
                <c:pt idx="3">
                  <c:v>11.72</c:v>
                </c:pt>
                <c:pt idx="4">
                  <c:v>8.7</c:v>
                </c:pt>
                <c:pt idx="5">
                  <c:v>8.51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Conversion by Month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50.55</c:v>
                </c:pt>
                <c:pt idx="3">
                  <c:v>20.48</c:v>
                </c:pt>
                <c:pt idx="4">
                  <c:v>6.43</c:v>
                </c:pt>
                <c:pt idx="5">
                  <c:v>10.51</c:v>
                </c:pt>
                <c:pt idx="6">
                  <c:v>9.05</c:v>
                </c:pt>
                <c:pt idx="7">
                  <c:v>10.6</c:v>
                </c:pt>
                <c:pt idx="8">
                  <c:v>44.91</c:v>
                </c:pt>
                <c:pt idx="9">
                  <c:v>43.87</c:v>
                </c:pt>
                <c:pt idx="10">
                  <c:v>10.14</c:v>
                </c:pt>
                <c:pt idx="11">
                  <c:v>48.9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37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37E"/>
                </a:solidFill>
                <a:latin typeface="Arial"/>
              </a:rPr>
              <a:t>Drop-off by Call Count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%</c:v>
                </c:pt>
              </c:strCache>
            </c:strRef>
          </c:tx>
          <c:spPr>
            <a:solidFill>
              <a:srgbClr val="C62828"/>
            </a:solidFill>
            <a:ln w="3175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37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 call</c:v>
                  </c:pt>
                  <c:pt idx="1">
                    <c:v>2 calls</c:v>
                  </c:pt>
                  <c:pt idx="2">
                    <c:v>3 calls</c:v>
                  </c:pt>
                  <c:pt idx="3">
                    <c:v>4-5 calls</c:v>
                  </c:pt>
                  <c:pt idx="4">
                    <c:v>6-10 calls</c:v>
                  </c:pt>
                  <c:pt idx="5">
                    <c:v>10+ calls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13.04</c:v>
                </c:pt>
                <c:pt idx="1">
                  <c:v>11.46</c:v>
                </c:pt>
                <c:pt idx="2">
                  <c:v>10.75</c:v>
                </c:pt>
                <c:pt idx="3">
                  <c:v>8.68</c:v>
                </c:pt>
                <c:pt idx="4">
                  <c:v>6.32</c:v>
                </c:pt>
                <c:pt idx="5">
                  <c:v>3.11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37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011680" cy="2011680"/>
          </a:xfrm>
          <a:prstGeom prst="ellipse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196F3"/>
                </a:solidFill>
              </a:rPr>
              <a:t>BANK MARKETING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A4AE"/>
                </a:solidFill>
              </a:rPr>
              <a:t>Understanding the customer journey from contact to conversion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196596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703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41,188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Total Contacts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3657600"/>
            <a:ext cx="196596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703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11.3%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Overall Conversion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657600"/>
            <a:ext cx="196596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03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4,640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Subscriptions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3657600"/>
            <a:ext cx="1965960" cy="914400"/>
          </a:xfrm>
          <a:prstGeom prst="rect">
            <a:avLst/>
          </a:prstGeom>
          <a:solidFill>
            <a:srgbClr val="0D2B5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37033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196F3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49440" y="413308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Funnel Stages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0A4AE"/>
                </a:solidFill>
              </a:rPr>
              <a:t>Dataset: UCI Bank Marketing | 41,188 records | 21 variables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Conversion Funnel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How contacts move from first touch to subscription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0467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16152"/>
            <a:ext cx="6400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 Contacts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121615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41,188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26680" y="12161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2057400"/>
            <a:ext cx="649224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2130552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Engaged (≤3 calls)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213055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33,553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130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81.5%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266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▼ 18.5% drop-off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2971800"/>
            <a:ext cx="3200400" cy="5669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3044952"/>
            <a:ext cx="1554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Returning Leads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04495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5,625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30449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0760" y="3108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▼ 67.8% drop-off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219456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959352"/>
            <a:ext cx="548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Converted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31920" y="3959352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4,640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9593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11.3%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4023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▼ 2.4% drop-off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565C0"/>
                </a:solidFill>
              </a:rPr>
              <a:t>Key insight: 88.7% of contacts do not convert — targeting and timing are critical levers.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Channel &amp; Prior History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The two biggest levers for improving conversion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0233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2062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60520"/>
            <a:ext cx="4114800" cy="685800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02920" y="4206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</a:rPr>
              <a:t>Cellular is 3× better than telephone — shift budget immediately.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800600" y="4160520"/>
            <a:ext cx="4114800" cy="685800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0" y="42062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7E"/>
                </a:solidFill>
              </a:rPr>
              <a:t>Prior successes convert at 65% — re-engage these leads first.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Who Converts Best?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Conversion rates by job type and age group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1005840"/>
          <a:ext cx="3017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</a:rPr>
              <a:t>Timing &amp; Contact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When to call — and when to stop calling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669280" y="1005840"/>
          <a:ext cx="3200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37E"/>
                </a:solidFill>
              </a:rPr>
              <a:t>Mar / Sep / Oct / Dec convert at 44–51%. May has highest volume but lowest rate (6.4%) — a sign of market fatigue.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669280" y="4434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</a:rPr>
              <a:t>Conversion drops sharply after 3 contacts. Cap outreach at 3 calls per lead.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Actionable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Five changes that will directly improve conversion rates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6052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84048" cy="10515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216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Shift to cellular outreach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154533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Cellular converts at 14.7% vs 5.2% telephone — nearly 3× better. Reallocate budget accordingly.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16052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77440"/>
            <a:ext cx="384048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5176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Re-engage prior successes first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7797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Leads with a prior successful outcome convert at 65.1%. Build this re-engagement list before any new campaign.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416052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11880"/>
            <a:ext cx="384048" cy="10515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88620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6850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Target students &amp; retirees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401421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Students (31.4%) and retirees (25.2%) convert 3–4× better than blue-collar workers (6.9%).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143000"/>
            <a:ext cx="416052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F57F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143000"/>
            <a:ext cx="384048" cy="10515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41732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76088" y="12161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Campaign in Mar, Sep, Oct, Dec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76088" y="154533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These months hit 44–51% conversion. May has the most volume but only 6.4% — reduce May spend.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4160520" cy="1051560"/>
          </a:xfrm>
          <a:prstGeom prst="rect">
            <a:avLst/>
          </a:prstGeom>
          <a:solidFill>
            <a:srgbClr val="0D2B55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77440"/>
            <a:ext cx="384048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651760"/>
            <a:ext cx="384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76088" y="24505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 calls at 3 per lead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76088" y="27797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</a:rPr>
              <a:t>Conversion drops from 13% (1 call) to 3.1% (10+ calls). Over-calling wastes budget and signals disinterest.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3898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Only 11.3% of contacts convert — most drop-off is fixable with smarter targeting.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75688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482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Cellular outreach and re-engaging prior successes are the two highest-ROI actions.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34056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066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Segment focus on students, retirees, and 65+ unlocks significantly higher rates.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92424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649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Campaign timing matters — Q3 and Q4 months dramatically outperform May.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050792"/>
            <a:ext cx="256032" cy="25603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Quality beats quantity — fewer, well-timed contacts outperform aggressive calling.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A4AE"/>
                </a:solidFill>
              </a:rPr>
              <a:t>Bank Marketing Funnel Analysis  |  UCI Dataset  |  41,188 records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Funnel Analysis</dc:title>
  <dc:subject>PptxGenJS Presentation</dc:subject>
  <dc:creator>PptxGenJS</dc:creator>
  <cp:lastModifiedBy>PptxGenJS</cp:lastModifiedBy>
  <cp:revision>1</cp:revision>
  <dcterms:created xsi:type="dcterms:W3CDTF">2026-05-25T10:04:49Z</dcterms:created>
  <dcterms:modified xsi:type="dcterms:W3CDTF">2026-05-25T10:04:49Z</dcterms:modified>
</cp:coreProperties>
</file>